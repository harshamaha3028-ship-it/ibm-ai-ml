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97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 respected evaluators and panel members. Welcome to my internship review presentation. Today, I am presenting my project titled 'Automobile Efficiency Regressor &amp; Vehicle Class Profiler', developed during my IBM AI &amp; ML internship.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02450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slide, I summarize the project abstract. Fuel economy estimation is critical for modern automotive engineering. We developed an end-to-end platform that solves two interconnected problems: predicting continuous fuel economy while controlling for collinearity, and automatically categorizing vehicles into physical archetypes using unsupervised clustering.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8675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we introduce the background. Stringent environmental regulations like CAFE demand fast and accurate fuel economy estimations. Instead of just building a single ML model, this project addresses both continuous prediction and vehicle profiling, while wrapping the entire machine learning engine inside a robust production microservice.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39034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our literature survey, we examined three main domains: classical OLS regression and its breakdown under multicollinearity, the mathematical advantages of L1 and L2 regularization to stabilize model weights, and unsupervised clustering via K-Means and PCA for projecting multi-attribute engineering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78889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highlights the four key research and engineering gaps we identified: first, ignoring multicollinearity in vehicle specs; second, widespread data leakage during preprocessing in existing tutorials; third, lack of explainable profiling; and fourth, the absence of real-world production architectures to deploy these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2667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architecture of the proposed system. We built a 4-tier decoupled system: Layer 1 is the responsive web dashboard; Layer 2 is the FastAPI asynchronous backend; Layer 3 is the ML engine containing our regularized regressors and K-Means/PCA; and Layer 4 is the database persistence tier supporting MySQL and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87614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Slide 7, we present the supervised regression pipeline. We strictly eliminated data leakage by fitting our imputer and scaler only on the 80% training split. We also engineered domain features such as power-to-weight and displacement-per-cylinder. We evaluated Ridge, Lasso, and ElasticNet models using 5-fold cross-validation.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16963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covers our unsupervised vehicle profiling. By evaluating the Elbow Method and Silhouette scores across k=2 to 8, we found k=3 to be optimal. 2D PCA captures 91.8% of variance, cleanly segmenting the fleet into Lightweight Compacts, Mid-Heavy Cruisers, and Heavy High-Power V8s.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35954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the empirical results. Ridge regression delivered the lowest MAE of 1.944 MPG and a test R2 of 0.8756. Feature attribution confirms physical reality: cylinder count and curb weight decrease fuel economy, while newer model year increases it. The entire system was validated with 100% test pass rate in pytest.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57070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the project successfully delivered an end-to-end AI platform. We combined high-accuracy regression with unsupervised profiling, strictly followed data hygiene protocols, and packaged everything into a production-ready microservice. This internship provided invaluable experience in building real-world ML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38721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Looking forward, the future scope includes expanding to EV and Hybrid metrics like MPGe, experimenting with non-linear models like XGBoost and SHAP explainability, and containerizing the architecture for cloud deployment on platforms like IBM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26811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the primary academic references and technical documentation that guided this research and implementation, including the UCI dataset, foundational regularization papers by Hoerl, Kennard, and Tibshirani, and the Scikit-learn and FastAPI frameworks. Thank you! I am now open to any questions from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2377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62FE"/>
                </a:solidFill>
                <a:latin typeface="Arial"/>
              </a:defRPr>
            </a:pPr>
            <a:r>
              <a:t>IBM AI &amp; ML INTERNSHIP REVIEW</a:t>
            </a:r>
          </a:p>
          <a:p>
            <a:pPr>
              <a:spcBef>
                <a:spcPts val="1000"/>
              </a:spcBef>
              <a:defRPr sz="3200" b="1">
                <a:solidFill>
                  <a:srgbClr val="161616"/>
                </a:solidFill>
                <a:latin typeface="Arial"/>
              </a:defRPr>
            </a:pPr>
            <a:r>
              <a:t>Automobile Efficiency Regressor &amp; Vehicle Class Profiler</a:t>
            </a:r>
          </a:p>
          <a:p>
            <a:pPr>
              <a:spcBef>
                <a:spcPts val="800"/>
              </a:spcBef>
              <a:defRPr sz="1500">
                <a:solidFill>
                  <a:srgbClr val="525252"/>
                </a:solidFill>
                <a:latin typeface="Arial"/>
              </a:defRPr>
            </a:pPr>
            <a:r>
              <a:t>An End-to-End Machine Learning System for Fuel Economy Estimation &amp; Unsupervised Archetyping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32720" cy="256032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3657600"/>
            <a:ext cx="4572000" cy="15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62FE"/>
                </a:solidFill>
                <a:latin typeface="Arial"/>
              </a:defRPr>
            </a:pPr>
            <a:r>
              <a:rPr dirty="0"/>
              <a:t>STUDENT DETAILS</a:t>
            </a:r>
          </a:p>
          <a:p>
            <a:pPr>
              <a:spcBef>
                <a:spcPts val="500"/>
              </a:spcBef>
              <a:defRPr sz="1300">
                <a:solidFill>
                  <a:srgbClr val="161616"/>
                </a:solidFill>
                <a:latin typeface="Arial"/>
              </a:defRPr>
            </a:pPr>
            <a:r>
              <a:rPr dirty="0"/>
              <a:t>Candidate Name: </a:t>
            </a:r>
            <a:r>
              <a:rPr lang="en-US" dirty="0" smtClean="0"/>
              <a:t>KOLISETTY HARSHA VARDHAN</a:t>
            </a:r>
            <a:endParaRPr dirty="0"/>
          </a:p>
          <a:p>
            <a:pPr>
              <a:spcBef>
                <a:spcPts val="500"/>
              </a:spcBef>
              <a:defRPr sz="1300">
                <a:solidFill>
                  <a:srgbClr val="161616"/>
                </a:solidFill>
                <a:latin typeface="Arial"/>
              </a:defRPr>
            </a:pPr>
            <a:r>
              <a:rPr dirty="0"/>
              <a:t>Roll / USN No: </a:t>
            </a:r>
            <a:r>
              <a:rPr lang="en-US" dirty="0" smtClean="0"/>
              <a:t>A24126552154</a:t>
            </a:r>
            <a:endParaRPr dirty="0"/>
          </a:p>
          <a:p>
            <a:pPr>
              <a:spcBef>
                <a:spcPts val="500"/>
              </a:spcBef>
              <a:defRPr sz="1300">
                <a:solidFill>
                  <a:srgbClr val="161616"/>
                </a:solidFill>
                <a:latin typeface="Arial"/>
              </a:defRPr>
            </a:pPr>
            <a:r>
              <a:rPr dirty="0"/>
              <a:t>Department: </a:t>
            </a:r>
            <a:r>
              <a:rPr lang="en-US" dirty="0" smtClean="0"/>
              <a:t>CSM</a:t>
            </a:r>
            <a:endParaRPr dirty="0"/>
          </a:p>
          <a:p>
            <a:pPr>
              <a:spcBef>
                <a:spcPts val="500"/>
              </a:spcBef>
              <a:defRPr sz="1300">
                <a:solidFill>
                  <a:srgbClr val="161616"/>
                </a:solidFill>
                <a:latin typeface="Arial"/>
              </a:defRPr>
            </a:pPr>
            <a:r>
              <a:rPr dirty="0"/>
              <a:t>Institution: </a:t>
            </a:r>
            <a:r>
              <a:rPr lang="en-US" dirty="0" smtClean="0"/>
              <a:t>Anil </a:t>
            </a:r>
            <a:r>
              <a:rPr lang="en-US" dirty="0" err="1" smtClean="0"/>
              <a:t>Neerkonda</a:t>
            </a:r>
            <a:r>
              <a:rPr lang="en-US" dirty="0" smtClean="0"/>
              <a:t> Institution Of technology and Sciences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217920" y="36576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62FE"/>
                </a:solidFill>
                <a:latin typeface="Arial"/>
              </a:defRPr>
            </a:pPr>
            <a:r>
              <a:rPr dirty="0"/>
              <a:t>SUPERVISION &amp; TRACK</a:t>
            </a:r>
          </a:p>
          <a:p>
            <a:pPr>
              <a:spcBef>
                <a:spcPts val="500"/>
              </a:spcBef>
              <a:defRPr sz="1300">
                <a:solidFill>
                  <a:srgbClr val="161616"/>
                </a:solidFill>
                <a:latin typeface="Arial"/>
              </a:defRPr>
            </a:pPr>
            <a:r>
              <a:rPr dirty="0"/>
              <a:t>Faculty Guide: [Guide / Mentor Name]</a:t>
            </a:r>
          </a:p>
          <a:p>
            <a:pPr>
              <a:spcBef>
                <a:spcPts val="500"/>
              </a:spcBef>
              <a:defRPr sz="1300">
                <a:solidFill>
                  <a:srgbClr val="161616"/>
                </a:solidFill>
                <a:latin typeface="Arial"/>
              </a:defRPr>
            </a:pPr>
            <a:r>
              <a:rPr dirty="0"/>
              <a:t>Designation: [Designation / Department]</a:t>
            </a:r>
          </a:p>
          <a:p>
            <a:pPr>
              <a:spcBef>
                <a:spcPts val="500"/>
              </a:spcBef>
              <a:defRPr sz="1300">
                <a:solidFill>
                  <a:srgbClr val="161616"/>
                </a:solidFill>
                <a:latin typeface="Arial"/>
              </a:defRPr>
            </a:pPr>
            <a:r>
              <a:rPr dirty="0"/>
              <a:t>Internship Domain: AI &amp; Machine Learning</a:t>
            </a:r>
          </a:p>
          <a:p>
            <a:pPr>
              <a:spcBef>
                <a:spcPts val="500"/>
              </a:spcBef>
              <a:defRPr sz="1300">
                <a:solidFill>
                  <a:srgbClr val="161616"/>
                </a:solidFill>
                <a:latin typeface="Arial"/>
              </a:defRPr>
            </a:pPr>
            <a:r>
              <a:rPr dirty="0"/>
              <a:t>Evaluation Date: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Arial"/>
              </a:defRPr>
            </a:pPr>
            <a:r>
              <a:t>SLIDE 02 |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  <a:latin typeface="Arial"/>
              </a:defRPr>
            </a:pPr>
            <a:r>
              <a:t>Abstract</a:t>
            </a:r>
          </a:p>
          <a:p>
            <a:pPr>
              <a:defRPr sz="1200">
                <a:solidFill>
                  <a:srgbClr val="525252"/>
                </a:solidFill>
                <a:latin typeface="Arial"/>
              </a:defRPr>
            </a:pPr>
            <a:r>
              <a:t>Comprehensive summary of problem domain, approach, and primary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1616"/>
                </a:solidFill>
                <a:latin typeface="Arial"/>
              </a:defRPr>
            </a:pPr>
            <a:r>
              <a:t>The Problem &amp; Challenge</a:t>
            </a:r>
          </a:p>
          <a:p>
            <a:pPr>
              <a:spcBef>
                <a:spcPts val="1400"/>
              </a:spcBef>
              <a:defRPr sz="1300">
                <a:solidFill>
                  <a:srgbClr val="525252"/>
                </a:solidFill>
                <a:latin typeface="Arial"/>
              </a:defRPr>
            </a:pPr>
            <a:r>
              <a:t>•  Automobile fuel economy (MPG) is driven by complex interactions between mechanical displacement, cylinder count, curb weight, and vehicle era.</a:t>
            </a:r>
          </a:p>
          <a:p>
            <a:pPr>
              <a:spcBef>
                <a:spcPts val="1400"/>
              </a:spcBef>
              <a:defRPr sz="1300">
                <a:solidFill>
                  <a:srgbClr val="525252"/>
                </a:solidFill>
                <a:latin typeface="Arial"/>
              </a:defRPr>
            </a:pPr>
            <a:r>
              <a:t>•  Accurate modeling is critical for vehicle engineering, consumer cost estimation, and regulatory emissions standards (such as CAFE).</a:t>
            </a:r>
          </a:p>
          <a:p>
            <a:pPr>
              <a:spcBef>
                <a:spcPts val="1400"/>
              </a:spcBef>
              <a:defRPr sz="1300">
                <a:solidFill>
                  <a:srgbClr val="525252"/>
                </a:solidFill>
                <a:latin typeface="Arial"/>
              </a:defRPr>
            </a:pPr>
            <a:r>
              <a:t>•  Traditional modeling suffers from severe multicollinearity among physical parameters and often fails to provide actionable vehicle profiling.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EDF5FF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62FE"/>
                </a:solidFill>
                <a:latin typeface="Arial"/>
              </a:defRPr>
            </a:pPr>
            <a:r>
              <a:t>Proposed Solution &amp; Key Impact</a:t>
            </a:r>
          </a:p>
          <a:p>
            <a:pPr>
              <a:spcBef>
                <a:spcPts val="1400"/>
              </a:spcBef>
              <a:defRPr sz="1300">
                <a:solidFill>
                  <a:srgbClr val="161616"/>
                </a:solidFill>
                <a:latin typeface="Arial"/>
              </a:defRPr>
            </a:pPr>
            <a:r>
              <a:t>•  Dual-Pipeline ML Architecture: Combines regularized regression (Ridge, Lasso, ElasticNet) for continuous MPG estimation with unsupervised K-Means (k=3) &amp; 2D PCA.</a:t>
            </a:r>
          </a:p>
          <a:p>
            <a:pPr>
              <a:spcBef>
                <a:spcPts val="1400"/>
              </a:spcBef>
              <a:defRPr sz="1300">
                <a:solidFill>
                  <a:srgbClr val="161616"/>
                </a:solidFill>
                <a:latin typeface="Arial"/>
              </a:defRPr>
            </a:pPr>
            <a:r>
              <a:t>•  Predictive Excellence: Ridge regression achieved R2 = 0.8756 and MAE = 1.944 MPG on unseen holdout data, eliminating data leakage during preprocessing.</a:t>
            </a:r>
          </a:p>
          <a:p>
            <a:pPr>
              <a:spcBef>
                <a:spcPts val="1400"/>
              </a:spcBef>
              <a:defRPr sz="1300">
                <a:solidFill>
                  <a:srgbClr val="161616"/>
                </a:solidFill>
                <a:latin typeface="Arial"/>
              </a:defRPr>
            </a:pPr>
            <a:r>
              <a:t>•  Production Deployment: Fully packaged into an asynchronous FastAPI REST API with dual SQL persistence (MySQL/SQLite) and a responsive web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Arial"/>
              </a:defRPr>
            </a:pPr>
            <a:r>
              <a:t>SLIDE 03 |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  <a:latin typeface="Arial"/>
              </a:defRPr>
            </a:pPr>
            <a:r>
              <a:t>Introduction</a:t>
            </a:r>
          </a:p>
          <a:p>
            <a:pPr>
              <a:defRPr sz="1200">
                <a:solidFill>
                  <a:srgbClr val="525252"/>
                </a:solidFill>
                <a:latin typeface="Arial"/>
              </a:defRPr>
            </a:pPr>
            <a:r>
              <a:t>Background motivation, business drivers, and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2900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Automotive Landscape &amp; CAFE Standards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Global environmental mandates and fuel economy regulations require automotive manufacturers to optimize vehicle configurations early in the design cycle.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Vehicle fuel economy is governed by physical laws: mass inertia, thermodynamic displacement, and aerodynamic progress over manufacturing eras.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Instantaneous predictive models reduce the necessity for expensive physical dynamometer testing in early vehicle conceptualization.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42900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46304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Dual-Pipeline Learning Approach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Supervised Learning: Accurately estimate continuous fuel efficiency (MPG) using regularized regression techniques to avoid overfitting.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Unsupervised Learning: Automatically discover underlying vehicle archetypes (clustering) without human labeling bias.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Explainability: Deliver direct attribution showing why specific vehicle configurations receive their predicted ratings.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280160"/>
            <a:ext cx="342900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46304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Production Engineering Focus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Bridge the gap between experimental Jupyter Notebooks and production-ready microservices.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Implement enterprise software patterns: asynchronous API endpoints, schema validation, and persistent historical logging.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Provide an intuitive, responsive graphical dashboard for interactive testing and fleet-level diagnostics.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Arial"/>
              </a:defRPr>
            </a:pPr>
            <a:r>
              <a:t>SLIDE 04 |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  <a:latin typeface="Arial"/>
              </a:defRPr>
            </a:pPr>
            <a:r>
              <a:t>Literature Survey</a:t>
            </a:r>
          </a:p>
          <a:p>
            <a:pPr>
              <a:defRPr sz="1200">
                <a:solidFill>
                  <a:srgbClr val="525252"/>
                </a:solidFill>
                <a:latin typeface="Arial"/>
              </a:defRPr>
            </a:pPr>
            <a:r>
              <a:t>Critical evaluation of existing methodologies and mathematical 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1. Ordinary Least Squares (OLS)  —  Classical Statistical Modeling</a:t>
            </a:r>
          </a:p>
          <a:p>
            <a:pPr>
              <a:spcBef>
                <a:spcPts val="4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Core Approach: Minimizes the sum of squared residuals to estimate regression coefficients.</a:t>
            </a:r>
          </a:p>
          <a:p>
            <a:pPr>
              <a:spcBef>
                <a:spcPts val="4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Identified Limitation: Highly vulnerable to multicollinearity. When predictors (e.g., displacement, cylinders, weight) are tightly correlated, coefficient variances explode, leading to model instability.</a:t>
            </a:r>
          </a:p>
          <a:p>
            <a:pPr>
              <a:spcBef>
                <a:spcPts val="4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Key Citation: Quinlan (1993) Auto MPG benchmark.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035808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2. L1 &amp; L2 Regularization  —  Ridge, Lasso &amp; ElasticNet</a:t>
            </a:r>
          </a:p>
          <a:p>
            <a:pPr>
              <a:spcBef>
                <a:spcPts val="4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Core Approach: Introduces shrinkage penalties (L2 squared norm in Ridge; L1 absolute norm in Lasso) into the loss objective.</a:t>
            </a:r>
          </a:p>
          <a:p>
            <a:pPr>
              <a:spcBef>
                <a:spcPts val="4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Identified Limitation: Pure Lasso arbitrarily selects one variable among correlated features; pure Ridge retains all. ElasticNet balances both penalties.</a:t>
            </a:r>
          </a:p>
          <a:p>
            <a:pPr>
              <a:spcBef>
                <a:spcPts val="4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Key Citations: Hoerl &amp; Kennard (1970); Tibshirani (1996).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681728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3. Clustering &amp; Dimensionality Reduction  —  K-Means &amp; Principal Component Analysis</a:t>
            </a:r>
          </a:p>
          <a:p>
            <a:pPr>
              <a:spcBef>
                <a:spcPts val="4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Core Approach: Partitions observations into k centroids and projects high-dimensional feature spaces onto orthogonal variance axes.</a:t>
            </a:r>
          </a:p>
          <a:p>
            <a:pPr>
              <a:spcBef>
                <a:spcPts val="4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Identified Limitation: Clustering requires careful distance metric scaling; arbitrary cluster count selection without inertia/silhouette validation leads to suboptimal grouping.</a:t>
            </a:r>
          </a:p>
          <a:p>
            <a:pPr>
              <a:spcBef>
                <a:spcPts val="4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Key Citations: MacQueen (1967); Pearson (1901).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Arial"/>
              </a:defRPr>
            </a:pPr>
            <a:r>
              <a:t>SLIDE 05 |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  <a:latin typeface="Arial"/>
              </a:defRPr>
            </a:pPr>
            <a:r>
              <a:t>Research Gaps &amp; Problem Formulation</a:t>
            </a:r>
          </a:p>
          <a:p>
            <a:pPr>
              <a:defRPr sz="1200">
                <a:solidFill>
                  <a:srgbClr val="525252"/>
                </a:solidFill>
                <a:latin typeface="Arial"/>
              </a:defRPr>
            </a:pPr>
            <a:r>
              <a:t>Deficiencies in existing solutions addressed by this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57800" cy="228600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Gap 01: Multicollinearity in Physical Features</a:t>
            </a:r>
          </a:p>
          <a:p>
            <a:pPr>
              <a:spcBef>
                <a:spcPts val="8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Many academic studies apply baseline OLS regression directly without addressing extreme correlation between engine displacement, cylinder count, and curb weight, yielding unstable coefficients and poor real-world generalization.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228600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630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Gap 02: Pervasive Data Leakage in Preprocessing</a:t>
            </a:r>
          </a:p>
          <a:p>
            <a:pPr>
              <a:spcBef>
                <a:spcPts val="8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Existing experimental pipelines frequently perform imputation and scaling across the entire dataset prior to train-test splitting. This leaks target distribution information and produces artificially optimistic benchmark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57800" cy="228600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Gap 03: Lack of Explainability &amp; Vehicle Profiling</a:t>
            </a:r>
          </a:p>
          <a:p>
            <a:pPr>
              <a:spcBef>
                <a:spcPts val="8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Traditional estimators produce a single black-box MPG value without contextual fleet categorization. Users are left without understanding whether a vehicle behaves as an economical commuter or a high-displacement cruiser.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94760"/>
            <a:ext cx="5257800" cy="228600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Gap 04: Absence of Production-Grade Serving</a:t>
            </a:r>
          </a:p>
          <a:p>
            <a:pPr>
              <a:spcBef>
                <a:spcPts val="8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The vast majority of fuel prediction models remain isolated in static Jupyter Notebooks. There is a marked lack of end-to-end systems featuring REST API serving, parameterized database logging, and responsive user dashboards.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Arial"/>
              </a:defRPr>
            </a:pPr>
            <a:r>
              <a:t>SLIDE 06 |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  <a:latin typeface="Arial"/>
              </a:defRPr>
            </a:pPr>
            <a:r>
              <a:t>Architecture of Proposed Work</a:t>
            </a:r>
          </a:p>
          <a:p>
            <a:pPr>
              <a:defRPr sz="1200">
                <a:solidFill>
                  <a:srgbClr val="525252"/>
                </a:solidFill>
                <a:latin typeface="Arial"/>
              </a:defRPr>
            </a:pPr>
            <a:r>
              <a:t>End-to-end decoupled system flow from user interface to database persistence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6032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62FE"/>
                </a:solidFill>
                <a:latin typeface="Arial"/>
              </a:defRPr>
            </a:pPr>
            <a:r>
              <a:t>Layer 1: Presentation Tier</a:t>
            </a:r>
          </a:p>
          <a:p>
            <a:pPr>
              <a:spcBef>
                <a:spcPts val="300"/>
              </a:spcBef>
              <a:defRPr sz="1100" b="1">
                <a:solidFill>
                  <a:srgbClr val="161616"/>
                </a:solidFill>
                <a:latin typeface="Arial"/>
              </a:defRPr>
            </a:pPr>
            <a:r>
              <a:t>Interactive Web Dashboard</a:t>
            </a:r>
          </a:p>
          <a:p>
            <a:pPr>
              <a:spcBef>
                <a:spcPts val="8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Built with HTML5, CSS3, JavaScript, and Chart.js.</a:t>
            </a:r>
          </a:p>
          <a:p>
            <a:pPr>
              <a:spcBef>
                <a:spcPts val="8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Features animated SVG MPG gauge, archetype visualizer, and 2D PCA interactive scatter plot.</a:t>
            </a:r>
          </a:p>
          <a:p>
            <a:pPr>
              <a:spcBef>
                <a:spcPts val="8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Provides audit history table with live search and CSV/JSON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256032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41732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62FE"/>
                </a:solidFill>
                <a:latin typeface="Arial"/>
              </a:defRPr>
            </a:pPr>
            <a:r>
              <a:t>Layer 2: API &amp; Routing Tier</a:t>
            </a:r>
          </a:p>
          <a:p>
            <a:pPr>
              <a:spcBef>
                <a:spcPts val="300"/>
              </a:spcBef>
              <a:defRPr sz="1100" b="1">
                <a:solidFill>
                  <a:srgbClr val="161616"/>
                </a:solidFill>
                <a:latin typeface="Arial"/>
              </a:defRPr>
            </a:pPr>
            <a:r>
              <a:t>Asynchronous FastAPI Microservice</a:t>
            </a:r>
          </a:p>
          <a:p>
            <a:pPr>
              <a:spcBef>
                <a:spcPts val="8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High-throughput REST API with Pydantic schema validation.</a:t>
            </a:r>
          </a:p>
          <a:p>
            <a:pPr>
              <a:spcBef>
                <a:spcPts val="8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Core endpoints: /predict (MPG estimation), /profile (clustering), /analyze (unified persistence).</a:t>
            </a:r>
          </a:p>
          <a:p>
            <a:pPr>
              <a:spcBef>
                <a:spcPts val="8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Delivers sub-50ms inference latency with interactive Swagger UI documentation.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56032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41732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62FE"/>
                </a:solidFill>
                <a:latin typeface="Arial"/>
              </a:defRPr>
            </a:pPr>
            <a:r>
              <a:t>Layer 3: Machine Learning Engine</a:t>
            </a:r>
          </a:p>
          <a:p>
            <a:pPr>
              <a:spcBef>
                <a:spcPts val="300"/>
              </a:spcBef>
              <a:defRPr sz="1100" b="1">
                <a:solidFill>
                  <a:srgbClr val="161616"/>
                </a:solidFill>
                <a:latin typeface="Arial"/>
              </a:defRPr>
            </a:pPr>
            <a:r>
              <a:t>Scikit-Learn Preprocessing &amp; Models</a:t>
            </a:r>
          </a:p>
          <a:p>
            <a:pPr>
              <a:spcBef>
                <a:spcPts val="8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Strict leakage-free pipeline with training-median imputation and standard scaling.</a:t>
            </a:r>
          </a:p>
          <a:p>
            <a:pPr>
              <a:spcBef>
                <a:spcPts val="8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Supervised Engine: Regularized regression models (Ridge, Lasso, ElasticNet).</a:t>
            </a:r>
          </a:p>
          <a:p>
            <a:pPr>
              <a:spcBef>
                <a:spcPts val="8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Unsupervised Engine: K-Means (k=3) clusterer and 2D PCA dimensionality reducer.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280160"/>
            <a:ext cx="256032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141732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62FE"/>
                </a:solidFill>
                <a:latin typeface="Arial"/>
              </a:defRPr>
            </a:pPr>
            <a:r>
              <a:t>Layer 4: Data &amp; Persistence Tier</a:t>
            </a:r>
          </a:p>
          <a:p>
            <a:pPr>
              <a:spcBef>
                <a:spcPts val="300"/>
              </a:spcBef>
              <a:defRPr sz="1100" b="1">
                <a:solidFill>
                  <a:srgbClr val="161616"/>
                </a:solidFill>
                <a:latin typeface="Arial"/>
              </a:defRPr>
            </a:pPr>
            <a:r>
              <a:t>Dual-Engine SQL Persistence</a:t>
            </a:r>
          </a:p>
          <a:p>
            <a:pPr>
              <a:spcBef>
                <a:spcPts val="8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Relational database schema storing timestamped predictions, vehicle specs, and cluster labels.</a:t>
            </a:r>
          </a:p>
          <a:p>
            <a:pPr>
              <a:spcBef>
                <a:spcPts val="8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Primary: Enterprise MySQL; Fallback: Automatic zero-config SQLite persistence.</a:t>
            </a:r>
          </a:p>
          <a:p>
            <a:pPr>
              <a:spcBef>
                <a:spcPts val="8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100% parameterized queries ensuring SQL-injection immunity.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Arial"/>
              </a:defRPr>
            </a:pPr>
            <a:r>
              <a:t>SLIDE 07 |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  <a:latin typeface="Arial"/>
              </a:defRPr>
            </a:pPr>
            <a:r>
              <a:t>Proposed Model: Supervised Regression Pipeline</a:t>
            </a:r>
          </a:p>
          <a:p>
            <a:pPr>
              <a:defRPr sz="1200">
                <a:solidFill>
                  <a:srgbClr val="525252"/>
                </a:solidFill>
                <a:latin typeface="Arial"/>
              </a:defRPr>
            </a:pPr>
            <a:r>
              <a:t>Feature engineering, data hygiene, and regularized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62FE"/>
                </a:solidFill>
                <a:latin typeface="Arial"/>
              </a:defRPr>
            </a:pPr>
            <a:r>
              <a:t>Data Hygiene &amp; Feature Engineering</a:t>
            </a:r>
          </a:p>
          <a:p>
            <a:pPr>
              <a:spcBef>
                <a:spcPts val="6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•  Train-Test Partitioning: 80% Training (N=318), 20% Holdout Test (N=80) split with fixed random seed.</a:t>
            </a:r>
          </a:p>
          <a:p>
            <a:pPr>
              <a:spcBef>
                <a:spcPts val="6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•  Strict Leakage Prevention: Missing horsepower values (6 instances) imputed using training-set median only; never computed on the full fleet.</a:t>
            </a:r>
          </a:p>
          <a:p>
            <a:pPr>
              <a:spcBef>
                <a:spcPts val="6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•  StandardScaler Transformation: Features centered to zero mean and unit variance based strictly on training distributions.</a:t>
            </a:r>
          </a:p>
          <a:p>
            <a:pPr>
              <a:spcBef>
                <a:spcPts val="6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•  Derived Domain Features:</a:t>
            </a:r>
          </a:p>
          <a:p>
            <a:pPr>
              <a:spcBef>
                <a:spcPts val="6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     - Power-to-Weight Ratio = Horsepower / Curb Weight</a:t>
            </a:r>
          </a:p>
          <a:p>
            <a:pPr>
              <a:spcBef>
                <a:spcPts val="6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     - Displacement-per-Cylinder = Displacement / Cylinders</a:t>
            </a:r>
          </a:p>
          <a:p>
            <a:pPr>
              <a:spcBef>
                <a:spcPts val="6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     - Weight-per-Cylinder = Curb Weight / Cylinders</a:t>
            </a:r>
          </a:p>
          <a:p>
            <a:pPr>
              <a:spcBef>
                <a:spcPts val="6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     - Vehicle Age = 82 - Model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62FE"/>
                </a:solidFill>
                <a:latin typeface="Arial"/>
              </a:defRPr>
            </a:pPr>
            <a:r>
              <a:t>Mathematical Model Formulations</a:t>
            </a:r>
          </a:p>
          <a:p>
            <a:pPr>
              <a:spcBef>
                <a:spcPts val="10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Ordinary Least Squares (OLS) Baseline: Minimizes squared residual error; sensitive to collinear parameter variance.</a:t>
            </a:r>
          </a:p>
          <a:p>
            <a:pPr>
              <a:spcBef>
                <a:spcPts val="10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Ridge Regression (L2 Regularization): Adds squared magnitude penalty: min ||y - Xw||2 + alpha ||w||2. Tuned parameter: alpha = 0.160.</a:t>
            </a:r>
          </a:p>
          <a:p>
            <a:pPr>
              <a:spcBef>
                <a:spcPts val="10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Lasso Regression (L1 Regularization): Adds absolute magnitude penalty: min ||y - Xw||2 + alpha ||w||1. Tuned parameter: alpha = 0.001. Performs feature selection.</a:t>
            </a:r>
          </a:p>
          <a:p>
            <a:pPr>
              <a:spcBef>
                <a:spcPts val="10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ElasticNet (L1 + L2 Hybrid): Balances feature selection with group stability: alpha = 0.001, l1_ratio = 0.7.</a:t>
            </a:r>
          </a:p>
          <a:p>
            <a:pPr>
              <a:spcBef>
                <a:spcPts val="10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5-Fold Cross-Validation: Hyperparameters tuned across 5 validation folds to ensure 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Arial"/>
              </a:defRPr>
            </a:pPr>
            <a:r>
              <a:t>SLIDE 08 |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  <a:latin typeface="Arial"/>
              </a:defRPr>
            </a:pPr>
            <a:r>
              <a:t>Proposed Model: Unsupervised Vehicle Profiling</a:t>
            </a:r>
          </a:p>
          <a:p>
            <a:pPr>
              <a:defRPr sz="1200">
                <a:solidFill>
                  <a:srgbClr val="525252"/>
                </a:solidFill>
                <a:latin typeface="Arial"/>
              </a:defRPr>
            </a:pPr>
            <a:r>
              <a:t>K-Means clustering, silhouette validation, and 2D PCA projection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62FE"/>
                </a:solidFill>
                <a:latin typeface="Arial"/>
              </a:defRPr>
            </a:pPr>
            <a:r>
              <a:t>Clustering &amp; Dimensionality Reduction</a:t>
            </a:r>
          </a:p>
          <a:p>
            <a:pPr>
              <a:spcBef>
                <a:spcPts val="10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K-Means Formulation: Minimizes within-cluster inertia across scaled vehicle attributes (cylinders, displacement, horsepower, weight, acceleration).</a:t>
            </a:r>
          </a:p>
          <a:p>
            <a:pPr>
              <a:spcBef>
                <a:spcPts val="10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Optimal Cluster Selection: Evaluated k from 2 to 8. The Elbow method and mean Silhouette Analysis (S = 0.55) converged on k = 3 as the optimal archetype boundary.</a:t>
            </a:r>
          </a:p>
          <a:p>
            <a:pPr>
              <a:spcBef>
                <a:spcPts val="10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Two-Dimensional PCA Projection: Projects 6-dimensional feature space onto 2 principal components, capturing 91.8% of total fleet variance (PC1: 79.7%, PC2: 12.2%).</a:t>
            </a:r>
          </a:p>
          <a:p>
            <a:pPr>
              <a:spcBef>
                <a:spcPts val="1000"/>
              </a:spcBef>
              <a:defRPr sz="1200">
                <a:solidFill>
                  <a:srgbClr val="161616"/>
                </a:solidFill>
                <a:latin typeface="Arial"/>
              </a:defRPr>
            </a:pPr>
            <a:r>
              <a:t>•  Interactive Spatial Mapping: Enables real-time plotting of any query vehicle relative to learned cluster centroids.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62FE"/>
                </a:solidFill>
                <a:latin typeface="Arial"/>
              </a:defRPr>
            </a:pPr>
            <a:r>
              <a:t>Discovered Vehicle Archetypes (k = 3)</a:t>
            </a:r>
          </a:p>
          <a:p>
            <a:pPr>
              <a:spcBef>
                <a:spcPts val="800"/>
              </a:spcBef>
              <a:defRPr sz="1250" b="1">
                <a:solidFill>
                  <a:srgbClr val="161616"/>
                </a:solidFill>
                <a:latin typeface="Arial"/>
              </a:defRPr>
            </a:pPr>
            <a:r>
              <a:t>Cluster 0: Mid-Heavy Cruiser (23.6% of Fleet)</a:t>
            </a:r>
          </a:p>
          <a:p>
            <a:pPr>
              <a:spcBef>
                <a:spcPts val="2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 Mean Weight: 3,222 lbs | Mean Cylinders: 6 | Mean MPG: ~19.8</a:t>
            </a:r>
          </a:p>
          <a:p>
            <a:pPr>
              <a:spcBef>
                <a:spcPts val="2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 Represents balanced family sedans and midsize wagons with moderate power and fuel economy.</a:t>
            </a:r>
          </a:p>
          <a:p>
            <a:pPr>
              <a:spcBef>
                <a:spcPts val="800"/>
              </a:spcBef>
              <a:defRPr sz="1250" b="1">
                <a:solidFill>
                  <a:srgbClr val="161616"/>
                </a:solidFill>
                <a:latin typeface="Arial"/>
              </a:defRPr>
            </a:pPr>
            <a:r>
              <a:t>Cluster 1: Heavy High-Power V8 (24.4% of Fleet)</a:t>
            </a:r>
          </a:p>
          <a:p>
            <a:pPr>
              <a:spcBef>
                <a:spcPts val="2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 Mean Weight: 4,144 lbs | Mean Cylinders: 8 | Mean MPG: ~14.5</a:t>
            </a:r>
          </a:p>
          <a:p>
            <a:pPr>
              <a:spcBef>
                <a:spcPts val="2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 Represents high-displacement, heavy American muscle cars and full-size vehicles.</a:t>
            </a:r>
          </a:p>
          <a:p>
            <a:pPr>
              <a:spcBef>
                <a:spcPts val="800"/>
              </a:spcBef>
              <a:defRPr sz="1250" b="1">
                <a:solidFill>
                  <a:srgbClr val="161616"/>
                </a:solidFill>
                <a:latin typeface="Arial"/>
              </a:defRPr>
            </a:pPr>
            <a:r>
              <a:t>Cluster 2: Lightweight Efficient Compact (52.0% of Fleet)</a:t>
            </a:r>
          </a:p>
          <a:p>
            <a:pPr>
              <a:spcBef>
                <a:spcPts val="2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 Mean Weight: 2,306 lbs | Mean Cylinders: 4 | Mean MPG: ~29.4</a:t>
            </a:r>
          </a:p>
          <a:p>
            <a:pPr>
              <a:spcBef>
                <a:spcPts val="200"/>
              </a:spcBef>
              <a:defRPr sz="1100">
                <a:solidFill>
                  <a:srgbClr val="525252"/>
                </a:solidFill>
                <a:latin typeface="Arial"/>
              </a:defRPr>
            </a:pPr>
            <a:r>
              <a:t>•  Represents highly aerodynamic, lightweight commuter cars (predominantly European &amp; Japanese).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Arial"/>
              </a:defRPr>
            </a:pPr>
            <a:r>
              <a:t>SLIDE 09 |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  <a:latin typeface="Arial"/>
              </a:defRPr>
            </a:pPr>
            <a:r>
              <a:t>Results &amp; Performance Analysis</a:t>
            </a:r>
          </a:p>
          <a:p>
            <a:pPr>
              <a:defRPr sz="1200">
                <a:solidFill>
                  <a:srgbClr val="525252"/>
                </a:solidFill>
                <a:latin typeface="Arial"/>
              </a:defRPr>
            </a:pPr>
            <a:r>
              <a:t>Comparative benchmark metrics and feature importance attribution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1554480"/>
                <a:gridCol w="1554480"/>
                <a:gridCol w="1554480"/>
                <a:gridCol w="1584655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Train R²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5-Fold CV R²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R²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Linear Regression (OLS)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0.8555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0.8409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0.8754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2.5878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1.9578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Ridge Regression (α = 0.160)</a:t>
                      </a:r>
                    </a:p>
                  </a:txBody>
                  <a:tcPr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0.8554</a:t>
                      </a:r>
                    </a:p>
                  </a:txBody>
                  <a:tcPr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0.8406</a:t>
                      </a:r>
                    </a:p>
                  </a:txBody>
                  <a:tcPr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0.8756</a:t>
                      </a:r>
                    </a:p>
                  </a:txBody>
                  <a:tcPr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2.5867</a:t>
                      </a:r>
                    </a:p>
                  </a:txBody>
                  <a:tcPr>
                    <a:solidFill>
                      <a:srgbClr val="ED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1.9439</a:t>
                      </a:r>
                    </a:p>
                  </a:txBody>
                  <a:tcPr>
                    <a:solidFill>
                      <a:srgbClr val="EDF5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Lasso Regression (α = 0.001)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0.8555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0.8405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0.8756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2.5864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1.9524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ElasticNet (α = 0.001, l1 = 0.7)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0.8554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0.8403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0.8756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2.5860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61616"/>
                          </a:solidFill>
                          <a:latin typeface="Arial"/>
                        </a:defRPr>
                      </a:pPr>
                      <a:r>
                        <a:t>1.9448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566160"/>
            <a:ext cx="5212080" cy="2651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62FE"/>
                </a:solidFill>
                <a:latin typeface="Arial"/>
              </a:defRPr>
            </a:pPr>
            <a:r>
              <a:t>Feature Attribution &amp; Physical Drivers</a:t>
            </a:r>
          </a:p>
          <a:p>
            <a:pPr>
              <a:spcBef>
                <a:spcPts val="600"/>
              </a:spcBef>
              <a:defRPr sz="1100">
                <a:solidFill>
                  <a:srgbClr val="161616"/>
                </a:solidFill>
                <a:latin typeface="Arial"/>
              </a:defRPr>
            </a:pPr>
            <a:r>
              <a:t>•  Negative Drivers: Cylinder count (β = -11.24), displacement-per-cylinder (β = -5.19), and curb weight (β = -1.78) exert the strongest downward drag on MPG.</a:t>
            </a:r>
          </a:p>
          <a:p>
            <a:pPr>
              <a:spcBef>
                <a:spcPts val="600"/>
              </a:spcBef>
              <a:defRPr sz="1100">
                <a:solidFill>
                  <a:srgbClr val="161616"/>
                </a:solidFill>
                <a:latin typeface="Arial"/>
              </a:defRPr>
            </a:pPr>
            <a:r>
              <a:t>•  Positive Drivers: Newer model year (β = +1.57) directly reflects historical advancements in aerodynamics and engine efficiency.</a:t>
            </a:r>
          </a:p>
          <a:p>
            <a:pPr>
              <a:spcBef>
                <a:spcPts val="600"/>
              </a:spcBef>
              <a:defRPr sz="1100">
                <a:solidFill>
                  <a:srgbClr val="161616"/>
                </a:solidFill>
                <a:latin typeface="Arial"/>
              </a:defRPr>
            </a:pPr>
            <a:r>
              <a:t>•  Model Generalization: Test R² (0.8756) exceeds CV R² (0.8406), proving zero overfitting.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5212080" cy="2651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62FE"/>
                </a:solidFill>
                <a:latin typeface="Arial"/>
              </a:defRPr>
            </a:pPr>
            <a:r>
              <a:t>System Verification &amp; Test Suite</a:t>
            </a:r>
          </a:p>
          <a:p>
            <a:pPr>
              <a:spcBef>
                <a:spcPts val="600"/>
              </a:spcBef>
              <a:defRPr sz="1100">
                <a:solidFill>
                  <a:srgbClr val="161616"/>
                </a:solidFill>
                <a:latin typeface="Arial"/>
              </a:defRPr>
            </a:pPr>
            <a:r>
              <a:t>•  Pytest Automated Verification: 100% pass rate achieved across 12 comprehensive unit and integration test specifications.</a:t>
            </a:r>
          </a:p>
          <a:p>
            <a:pPr>
              <a:spcBef>
                <a:spcPts val="600"/>
              </a:spcBef>
              <a:defRPr sz="1100">
                <a:solidFill>
                  <a:srgbClr val="161616"/>
                </a:solidFill>
                <a:latin typeface="Arial"/>
              </a:defRPr>
            </a:pPr>
            <a:r>
              <a:t>•  Inference Speed: Sub-50ms API response time under full load.</a:t>
            </a:r>
          </a:p>
          <a:p>
            <a:pPr>
              <a:spcBef>
                <a:spcPts val="600"/>
              </a:spcBef>
              <a:defRPr sz="1100">
                <a:solidFill>
                  <a:srgbClr val="161616"/>
                </a:solidFill>
                <a:latin typeface="Arial"/>
              </a:defRPr>
            </a:pPr>
            <a:r>
              <a:t>•  Database Reliability: Verified parameterized persistence on MySQL with automated seamless SQLite fallback.</a:t>
            </a:r>
          </a:p>
          <a:p>
            <a:pPr>
              <a:spcBef>
                <a:spcPts val="600"/>
              </a:spcBef>
              <a:defRPr sz="1100">
                <a:solidFill>
                  <a:srgbClr val="161616"/>
                </a:solidFill>
                <a:latin typeface="Arial"/>
              </a:defRPr>
            </a:pPr>
            <a:r>
              <a:t>•  Zero Data Leakage: Verified through isolated unit tests on preprocessing transformers.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Arial"/>
              </a:defRPr>
            </a:pPr>
            <a:r>
              <a:t>SLIDE 10 |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  <a:latin typeface="Arial"/>
              </a:defRPr>
            </a:pPr>
            <a:r>
              <a:t>Conclusion</a:t>
            </a:r>
          </a:p>
          <a:p>
            <a:pPr>
              <a:defRPr sz="1200">
                <a:solidFill>
                  <a:srgbClr val="525252"/>
                </a:solidFill>
                <a:latin typeface="Arial"/>
              </a:defRPr>
            </a:pPr>
            <a:r>
              <a:t>Key technical achievements, engineering takeaways, and internship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57800" cy="228600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1. Predictive &amp; Profiling Excellence</a:t>
            </a:r>
          </a:p>
          <a:p>
            <a:pPr>
              <a:spcBef>
                <a:spcPts val="8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Successfully developed and validated a dual-pipeline machine learning system for automobile efficiency.</a:t>
            </a:r>
          </a:p>
          <a:p>
            <a:pPr>
              <a:spcBef>
                <a:spcPts val="8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Achieved robust test performance (R2 = 0.8756, MAE = 1.944 MPG) while automatically grouping vehicles into 3 distinct behavioral archetypes.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80160"/>
            <a:ext cx="5257800" cy="228600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630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2. Methodological Rigor</a:t>
            </a:r>
          </a:p>
          <a:p>
            <a:pPr>
              <a:spcBef>
                <a:spcPts val="8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Strictly eliminated data leakage by fitting imputers and scalers exclusively on training splits.</a:t>
            </a:r>
          </a:p>
          <a:p>
            <a:pPr>
              <a:spcBef>
                <a:spcPts val="8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Demonstrated the effectiveness of L1/L2 regularization in overcoming severe multicollinearity among physical engineering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57800" cy="228600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3. Production-Grade Microservice</a:t>
            </a:r>
          </a:p>
          <a:p>
            <a:pPr>
              <a:spcBef>
                <a:spcPts val="8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Decoupled machine learning models from the serving layer using an asynchronous FastAPI REST backend.</a:t>
            </a:r>
          </a:p>
          <a:p>
            <a:pPr>
              <a:spcBef>
                <a:spcPts val="8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Ensured robust enterprise persistence with parameterized MySQL queries and zero-config SQLite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94760"/>
            <a:ext cx="5257800" cy="228600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4. Internship Learnings &amp; Growth</a:t>
            </a:r>
          </a:p>
          <a:p>
            <a:pPr>
              <a:spcBef>
                <a:spcPts val="8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Gained comprehensive hands-on experience across the complete AI/ML lifecycle—from mathematical formulation to web UI deployment.</a:t>
            </a:r>
          </a:p>
          <a:p>
            <a:pPr>
              <a:spcBef>
                <a:spcPts val="8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Adopted professional software engineering practices: automated testing, modular code design, and explainable 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Arial"/>
              </a:defRPr>
            </a:pPr>
            <a:r>
              <a:t>SLIDE 11 |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  <a:latin typeface="Arial"/>
              </a:defRPr>
            </a:pPr>
            <a:r>
              <a:t>Future Scope</a:t>
            </a:r>
          </a:p>
          <a:p>
            <a:pPr>
              <a:defRPr sz="1200">
                <a:solidFill>
                  <a:srgbClr val="525252"/>
                </a:solidFill>
                <a:latin typeface="Arial"/>
              </a:defRPr>
            </a:pPr>
            <a:r>
              <a:t>Roadmap for potential enhancements, modern powertrain integration, and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2900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1. Electric &amp; Hybrid Powertrains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Expand the dataset to include modern Electric Vehicles (EVs) and Plug-in Hybrids (PHEVs).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Incorporate battery capacity (kWh), motor efficiency, and regenerative braking dynamics alongside traditional MPG.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Support MPGe (Miles Per Gallon equivalent) metrics for electrified fleet comparisons.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42900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46304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2. Advanced Non-Linear Modeling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Benchmark performance against Gradient Boosted Decision Trees (XGBoost, LightGBM, CatBoost).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Explore Shallow Neural Networks and multi-layer perceptrons to capture subtle aerodynamic non-linearities.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Integrate SHAP (SHapley Additive exPlanations) for real-time per-prediction feature attribution.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280160"/>
            <a:ext cx="3429000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46304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2FE"/>
                </a:solidFill>
                <a:latin typeface="Arial"/>
              </a:defRPr>
            </a:pPr>
            <a:r>
              <a:t>3. Cloud Deployment &amp; Telemetry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Containerize the complete application stack using multi-stage Docker builds.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Deploy to cloud infrastructure (IBM Cloud / Red Hat OpenShift / AWS) with automated CI/CD pipelines.</a:t>
            </a:r>
          </a:p>
          <a:p>
            <a:pPr>
              <a:spcBef>
                <a:spcPts val="1200"/>
              </a:spcBef>
              <a:defRPr sz="1200">
                <a:solidFill>
                  <a:srgbClr val="525252"/>
                </a:solidFill>
                <a:latin typeface="Arial"/>
              </a:defRPr>
            </a:pPr>
            <a:r>
              <a:t>•  Integrate real-time IoT vehicle telemetry streams via Apache Kafka for live on-road fuel economy tracking.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5486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9260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62FE"/>
                </a:solidFill>
                <a:latin typeface="Arial"/>
              </a:defRPr>
            </a:pPr>
            <a:r>
              <a:t>SLIDE 12 | 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1616"/>
                </a:solidFill>
                <a:latin typeface="Arial"/>
              </a:defRPr>
            </a:pPr>
            <a:r>
              <a:t>References</a:t>
            </a:r>
          </a:p>
          <a:p>
            <a:pPr>
              <a:defRPr sz="1200">
                <a:solidFill>
                  <a:srgbClr val="525252"/>
                </a:solidFill>
                <a:latin typeface="Arial"/>
              </a:defRPr>
            </a:pPr>
            <a:r>
              <a:t>Foundational academic literature, datasets, and framework citations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6F8FA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62FE"/>
                </a:solidFill>
                <a:latin typeface="Arial"/>
              </a:defRPr>
            </a:pPr>
            <a:r>
              <a:t>Academic &amp; Technical Citations</a:t>
            </a:r>
          </a:p>
          <a:p>
            <a:pPr>
              <a:spcBef>
                <a:spcPts val="10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[1]  Quinlan, R. (1993).  Combining Instance-Based and Model-Based Learning. Proceedings of the Tenth International Conference on Machine Learning, 236-243. [Auto MPG Dataset, UCI Machine Learning Repository].</a:t>
            </a:r>
          </a:p>
          <a:p>
            <a:pPr>
              <a:spcBef>
                <a:spcPts val="10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[2]  Hoerl, A. E., &amp; Kennard, R. W. (1970).  Ridge Regression: Biased Estimation for Nonorthogonal Problems. Technometrics, 12(1), 55-67.</a:t>
            </a:r>
          </a:p>
          <a:p>
            <a:pPr>
              <a:spcBef>
                <a:spcPts val="10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[3]  Tibshirani, R. (1996).  Regression Shrinkage and Selection via the Lasso. Journal of the Royal Statistical Society: Series B (Methodological), 58(1), 267-288.</a:t>
            </a:r>
          </a:p>
          <a:p>
            <a:pPr>
              <a:spcBef>
                <a:spcPts val="10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[4]  Zou, H., &amp; Hastie, T. (2005).  Regularization and Variable Selection via the Elastic Net. Journal of the Royal Statistical Society: Series B (Statistical Methodology), 67(2), 301-320.</a:t>
            </a:r>
          </a:p>
          <a:p>
            <a:pPr>
              <a:spcBef>
                <a:spcPts val="10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[5]  Pedregosa, F., Varoquaux, G., Gramfort, A., et al. (2011).  Scikit-learn: Machine Learning in Python. Journal of Machine Learning Research, 12, 2825-2830.</a:t>
            </a:r>
          </a:p>
          <a:p>
            <a:pPr>
              <a:spcBef>
                <a:spcPts val="10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[6]  Tiangolo, S. (2018).  FastAPI: High-Performance, Easy to Learn, Fast to Code, Ready for Production Web Framework. https://fastapi.tiangolo.com/</a:t>
            </a:r>
          </a:p>
          <a:p>
            <a:pPr>
              <a:spcBef>
                <a:spcPts val="1000"/>
              </a:spcBef>
              <a:defRPr sz="1150">
                <a:solidFill>
                  <a:srgbClr val="161616"/>
                </a:solidFill>
                <a:latin typeface="Arial"/>
              </a:defRPr>
            </a:pPr>
            <a:r>
              <a:t>[7]  Rousseeuw, P. J. (1987).  Silhouettes: A Graphical Aid to the Interpretation and Validation of Cluster Analysis. Journal of Computational and Applied Mathematics, 20, 53-65.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3020</Words>
  <Application>Microsoft Office PowerPoint</Application>
  <PresentationFormat>Widescreen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2026-09-20T16:26:59Z</dcterms:modified>
  <cp:category/>
</cp:coreProperties>
</file>